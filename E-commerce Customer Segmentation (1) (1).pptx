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5"/>
  </p:notesMasterIdLst>
  <p:sldIdLst>
    <p:sldId id="256" r:id="rId2"/>
    <p:sldId id="714" r:id="rId3"/>
    <p:sldId id="674" r:id="rId4"/>
    <p:sldId id="715" r:id="rId5"/>
    <p:sldId id="713" r:id="rId6"/>
    <p:sldId id="716" r:id="rId7"/>
    <p:sldId id="717" r:id="rId8"/>
    <p:sldId id="718" r:id="rId9"/>
    <p:sldId id="676" r:id="rId10"/>
    <p:sldId id="719" r:id="rId11"/>
    <p:sldId id="720" r:id="rId12"/>
    <p:sldId id="721"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05-04-2025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4257219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i="0" dirty="0">
              <a:solidFill>
                <a:schemeClr val="bg1"/>
              </a:solidFill>
              <a:effectLst/>
              <a:latin typeface="Figtree"/>
            </a:endParaRPr>
          </a:p>
          <a:p>
            <a:pPr algn="ctr"/>
            <a:r>
              <a:rPr lang="en-US" sz="4400" b="1" i="0" dirty="0">
                <a:solidFill>
                  <a:schemeClr val="bg1"/>
                </a:solidFill>
                <a:effectLst/>
                <a:latin typeface="Figtree"/>
              </a:rPr>
              <a:t>E-commerce Customer </a:t>
            </a:r>
          </a:p>
          <a:p>
            <a:pPr algn="ctr"/>
            <a:r>
              <a:rPr lang="en-US" sz="4400" b="1" i="0" dirty="0">
                <a:solidFill>
                  <a:schemeClr val="bg1"/>
                </a:solidFill>
                <a:effectLst/>
                <a:latin typeface="Figtree"/>
              </a:rPr>
              <a:t>Segmentation and Prediction</a:t>
            </a:r>
          </a:p>
          <a:p>
            <a:pPr algn="ctr"/>
            <a:endParaRPr lang="en-US" sz="2400" b="1" dirty="0">
              <a:solidFill>
                <a:schemeClr val="bg1"/>
              </a:solidFill>
              <a:latin typeface="Figtree"/>
            </a:endParaRPr>
          </a:p>
          <a:p>
            <a:pPr algn="ctr"/>
            <a:r>
              <a:rPr lang="en-US" sz="2400" b="1" dirty="0">
                <a:solidFill>
                  <a:schemeClr val="bg1"/>
                </a:solidFill>
                <a:latin typeface="Figtree"/>
              </a:rPr>
              <a:t>-Presented by: Tirumala Poojari</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5" y="1401417"/>
            <a:ext cx="7361872" cy="4671724"/>
          </a:xfrm>
        </p:spPr>
        <p:txBody>
          <a:bodyPr>
            <a:normAutofit/>
          </a:bodyPr>
          <a:lstStyle/>
          <a:p>
            <a:r>
              <a:rPr lang="en-US" b="0" i="0" dirty="0">
                <a:solidFill>
                  <a:srgbClr val="1F2937"/>
                </a:solidFill>
                <a:effectLst/>
                <a:latin typeface="+mn-lt"/>
              </a:rPr>
              <a:t>This project aims to enhance marketing strategies and customer retention for an e-commerce company by gaining a deeper understanding of their customer base based on their purchasing patter. </a:t>
            </a:r>
          </a:p>
          <a:p>
            <a:r>
              <a:rPr lang="en-US" b="0" i="0" dirty="0">
                <a:solidFill>
                  <a:srgbClr val="1F2937"/>
                </a:solidFill>
                <a:effectLst/>
                <a:latin typeface="+mn-lt"/>
              </a:rPr>
              <a:t>The goal is to develop a robust customer segmentation model and a predictive classifier to categorize customers based on their purchasing patterns, enabling the company to tailor marketing strategies, improve customer retention, and optimize inventory management.</a:t>
            </a:r>
            <a:endParaRPr lang="en-IN" dirty="0">
              <a:latin typeface="+mn-lt"/>
            </a:endParaRPr>
          </a:p>
        </p:txBody>
      </p:sp>
      <p:pic>
        <p:nvPicPr>
          <p:cNvPr id="5" name="Picture 4">
            <a:extLst>
              <a:ext uri="{FF2B5EF4-FFF2-40B4-BE49-F238E27FC236}">
                <a16:creationId xmlns:a16="http://schemas.microsoft.com/office/drawing/2014/main" id="{64DA4451-213B-A9BC-33C3-94C48AB32274}"/>
              </a:ext>
            </a:extLst>
          </p:cNvPr>
          <p:cNvPicPr>
            <a:picLocks noChangeAspect="1"/>
          </p:cNvPicPr>
          <p:nvPr/>
        </p:nvPicPr>
        <p:blipFill>
          <a:blip r:embed="rId2" cstate="print">
            <a:extLst>
              <a:ext uri="{28A0092B-C50C-407E-A947-70E740481C1C}">
                <a14:useLocalDpi xmlns:a14="http://schemas.microsoft.com/office/drawing/2010/main" val="0"/>
              </a:ext>
            </a:extLst>
          </a:blip>
          <a:srcRect l="4901" t="7380" r="6206" b="4984"/>
          <a:stretch/>
        </p:blipFill>
        <p:spPr>
          <a:xfrm>
            <a:off x="7732643" y="1216441"/>
            <a:ext cx="4154557" cy="3628885"/>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Exploratory Data Analysis (EDA)</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248478" y="1411358"/>
            <a:ext cx="11519452" cy="4234068"/>
          </a:xfrm>
          <a:prstGeom prst="rect">
            <a:avLst/>
          </a:prstGeom>
        </p:spPr>
        <p:txBody>
          <a:bodyPr>
            <a:normAutofit fontScale="250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a:lnSpc>
                <a:spcPct val="120000"/>
              </a:lnSpc>
            </a:pPr>
            <a:r>
              <a:rPr lang="en-IN" sz="11200" dirty="0">
                <a:latin typeface="Calibri "/>
              </a:rPr>
              <a:t>Handle missing values</a:t>
            </a:r>
          </a:p>
          <a:p>
            <a:pPr marL="0" indent="0">
              <a:lnSpc>
                <a:spcPct val="120000"/>
              </a:lnSpc>
              <a:buNone/>
            </a:pPr>
            <a:r>
              <a:rPr lang="en-IN" sz="11200" dirty="0">
                <a:solidFill>
                  <a:srgbClr val="1F1F1F"/>
                </a:solidFill>
                <a:latin typeface="Calibri "/>
              </a:rPr>
              <a:t> Drop </a:t>
            </a:r>
            <a:r>
              <a:rPr lang="en-US" sz="11200" b="0" i="0" dirty="0">
                <a:solidFill>
                  <a:srgbClr val="1F1F1F"/>
                </a:solidFill>
                <a:effectLst/>
                <a:latin typeface="Calibri "/>
              </a:rPr>
              <a:t>the rows having missing values</a:t>
            </a:r>
            <a:r>
              <a:rPr lang="en-IN" sz="11200" b="0" i="0" dirty="0">
                <a:solidFill>
                  <a:srgbClr val="1F1F1F"/>
                </a:solidFill>
                <a:effectLst/>
                <a:latin typeface="Calibri "/>
              </a:rPr>
              <a:t> of description feature  and </a:t>
            </a:r>
            <a:r>
              <a:rPr lang="en-IN" sz="11200" b="0" i="0" dirty="0" err="1">
                <a:solidFill>
                  <a:srgbClr val="1F1F1F"/>
                </a:solidFill>
                <a:effectLst/>
                <a:latin typeface="Calibri "/>
              </a:rPr>
              <a:t>CustomerID</a:t>
            </a:r>
            <a:r>
              <a:rPr lang="en-IN" sz="11200" b="0" i="0" dirty="0">
                <a:solidFill>
                  <a:srgbClr val="1F1F1F"/>
                </a:solidFill>
                <a:effectLst/>
                <a:latin typeface="Calibri "/>
              </a:rPr>
              <a:t>  feature.</a:t>
            </a:r>
          </a:p>
          <a:p>
            <a:pPr>
              <a:lnSpc>
                <a:spcPct val="120000"/>
              </a:lnSpc>
            </a:pPr>
            <a:r>
              <a:rPr lang="en-IN" sz="11200" dirty="0">
                <a:solidFill>
                  <a:srgbClr val="1F1F1F"/>
                </a:solidFill>
                <a:latin typeface="Calibri "/>
              </a:rPr>
              <a:t> </a:t>
            </a:r>
            <a:r>
              <a:rPr lang="en-US" sz="11200" dirty="0">
                <a:solidFill>
                  <a:srgbClr val="1F1F1F"/>
                </a:solidFill>
                <a:latin typeface="Calibri "/>
              </a:rPr>
              <a:t>To convert the invoice Date into proper format</a:t>
            </a:r>
            <a:endParaRPr lang="en-IN" sz="11200" dirty="0">
              <a:solidFill>
                <a:srgbClr val="1F1F1F"/>
              </a:solidFill>
              <a:latin typeface="Calibri "/>
            </a:endParaRPr>
          </a:p>
          <a:p>
            <a:pPr>
              <a:lnSpc>
                <a:spcPct val="120000"/>
              </a:lnSpc>
            </a:pPr>
            <a:r>
              <a:rPr lang="en-IN" sz="11200" dirty="0">
                <a:solidFill>
                  <a:srgbClr val="1F1F1F"/>
                </a:solidFill>
                <a:latin typeface="Calibri "/>
              </a:rPr>
              <a:t>Fine maximum date of invoice Date to </a:t>
            </a:r>
            <a:r>
              <a:rPr lang="en-US" sz="11200" dirty="0">
                <a:solidFill>
                  <a:srgbClr val="1F1F1F"/>
                </a:solidFill>
                <a:latin typeface="Calibri "/>
              </a:rPr>
              <a:t>calculating the difference between two dates of the customers</a:t>
            </a:r>
            <a:endParaRPr lang="en-IN" sz="11200" dirty="0">
              <a:solidFill>
                <a:srgbClr val="1F1F1F"/>
              </a:solidFill>
              <a:latin typeface="Calibri "/>
            </a:endParaRPr>
          </a:p>
          <a:p>
            <a:pPr>
              <a:lnSpc>
                <a:spcPct val="120000"/>
              </a:lnSpc>
            </a:pPr>
            <a:r>
              <a:rPr lang="en-US" sz="11200" dirty="0">
                <a:solidFill>
                  <a:srgbClr val="1F1F1F"/>
                </a:solidFill>
                <a:latin typeface="Calibri "/>
              </a:rPr>
              <a:t>Feature Scaling using </a:t>
            </a:r>
            <a:r>
              <a:rPr lang="en-US" sz="11200" dirty="0" err="1">
                <a:solidFill>
                  <a:srgbClr val="1F1F1F"/>
                </a:solidFill>
                <a:latin typeface="Calibri "/>
              </a:rPr>
              <a:t>StandardScaler</a:t>
            </a:r>
            <a:r>
              <a:rPr lang="en-US" sz="11200" dirty="0">
                <a:solidFill>
                  <a:srgbClr val="1F1F1F"/>
                </a:solidFill>
                <a:latin typeface="Calibri "/>
              </a:rPr>
              <a:t> (Z-score Normalization)</a:t>
            </a:r>
          </a:p>
          <a:p>
            <a:pPr marL="0" indent="0">
              <a:lnSpc>
                <a:spcPct val="120000"/>
              </a:lnSpc>
              <a:buNone/>
            </a:pPr>
            <a:r>
              <a:rPr lang="en-IN" sz="11200" dirty="0">
                <a:solidFill>
                  <a:srgbClr val="1F1F1F"/>
                </a:solidFill>
                <a:latin typeface="Calibri "/>
              </a:rPr>
              <a:t> </a:t>
            </a:r>
            <a:r>
              <a:rPr lang="en-US" sz="11200" dirty="0" err="1">
                <a:solidFill>
                  <a:srgbClr val="1F1F1F"/>
                </a:solidFill>
                <a:latin typeface="Calibri "/>
              </a:rPr>
              <a:t>StandardScaler</a:t>
            </a:r>
            <a:r>
              <a:rPr lang="en-US" sz="11200" dirty="0">
                <a:solidFill>
                  <a:srgbClr val="1F1F1F"/>
                </a:solidFill>
                <a:latin typeface="Calibri "/>
              </a:rPr>
              <a:t> is a feature scaling method that transforms data</a:t>
            </a:r>
            <a:endParaRPr lang="en-IN" sz="11200" dirty="0">
              <a:solidFill>
                <a:srgbClr val="1F1F1F"/>
              </a:solidFill>
              <a:latin typeface="Calibri "/>
            </a:endParaRPr>
          </a:p>
          <a:p>
            <a:pPr marL="0" indent="0">
              <a:buNone/>
            </a:pPr>
            <a:r>
              <a:rPr lang="en-IN" sz="11200" dirty="0">
                <a:solidFill>
                  <a:srgbClr val="1F1F1F"/>
                </a:solidFill>
                <a:latin typeface="Calibri "/>
              </a:rPr>
              <a:t> </a:t>
            </a:r>
          </a:p>
          <a:p>
            <a:pPr marL="0" indent="0">
              <a:buNone/>
            </a:pPr>
            <a:endParaRPr lang="en-US" sz="2400" dirty="0">
              <a:latin typeface="Calibri "/>
            </a:endParaRP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7CDED-DBAF-486D-846C-1246DEC5DE35}"/>
              </a:ext>
            </a:extLst>
          </p:cNvPr>
          <p:cNvSpPr>
            <a:spLocks noGrp="1"/>
          </p:cNvSpPr>
          <p:nvPr>
            <p:ph type="title"/>
          </p:nvPr>
        </p:nvSpPr>
        <p:spPr>
          <a:xfrm>
            <a:off x="678882" y="876369"/>
            <a:ext cx="7373326" cy="612775"/>
          </a:xfrm>
        </p:spPr>
        <p:txBody>
          <a:bodyPr/>
          <a:lstStyle/>
          <a:p>
            <a:r>
              <a:rPr lang="en-IN" dirty="0" err="1"/>
              <a:t>Analyze</a:t>
            </a:r>
            <a:r>
              <a:rPr lang="en-IN" dirty="0"/>
              <a:t> Customer Purchasing </a:t>
            </a:r>
            <a:r>
              <a:rPr lang="en-IN" dirty="0" err="1"/>
              <a:t>Behavior</a:t>
            </a:r>
            <a:endParaRPr lang="en-IN" dirty="0"/>
          </a:p>
        </p:txBody>
      </p:sp>
      <p:sp>
        <p:nvSpPr>
          <p:cNvPr id="3" name="Content Placeholder 2">
            <a:extLst>
              <a:ext uri="{FF2B5EF4-FFF2-40B4-BE49-F238E27FC236}">
                <a16:creationId xmlns:a16="http://schemas.microsoft.com/office/drawing/2014/main" id="{303D4295-9CDF-A261-3D50-D63364E7510C}"/>
              </a:ext>
            </a:extLst>
          </p:cNvPr>
          <p:cNvSpPr>
            <a:spLocks noGrp="1"/>
          </p:cNvSpPr>
          <p:nvPr>
            <p:ph idx="1"/>
          </p:nvPr>
        </p:nvSpPr>
        <p:spPr>
          <a:xfrm>
            <a:off x="678882" y="1659835"/>
            <a:ext cx="7055274" cy="4015408"/>
          </a:xfrm>
        </p:spPr>
        <p:txBody>
          <a:bodyPr/>
          <a:lstStyle/>
          <a:p>
            <a:pPr>
              <a:buFont typeface="Wingdings" panose="05000000000000000000" pitchFamily="2" charset="2"/>
              <a:buChar char="v"/>
            </a:pPr>
            <a:r>
              <a:rPr lang="en-US" b="0" i="0" dirty="0" err="1">
                <a:effectLst/>
                <a:latin typeface="Calibri "/>
              </a:rPr>
              <a:t>segement</a:t>
            </a:r>
            <a:r>
              <a:rPr lang="en-US" b="0" i="0" dirty="0">
                <a:effectLst/>
                <a:latin typeface="Calibri "/>
              </a:rPr>
              <a:t> the Customers based on RFM so that the company can target its customers efficiently.</a:t>
            </a:r>
          </a:p>
          <a:p>
            <a:pPr algn="l"/>
            <a:r>
              <a:rPr lang="en-US" b="1" i="0" dirty="0">
                <a:effectLst/>
                <a:latin typeface="Calibri "/>
              </a:rPr>
              <a:t>R (Recency): </a:t>
            </a:r>
            <a:r>
              <a:rPr lang="en-US" i="0" dirty="0">
                <a:effectLst/>
                <a:latin typeface="Calibri "/>
              </a:rPr>
              <a:t>Number of days since last purchase</a:t>
            </a:r>
          </a:p>
          <a:p>
            <a:pPr algn="l"/>
            <a:r>
              <a:rPr lang="en-US" b="1" i="0" dirty="0">
                <a:effectLst/>
                <a:latin typeface="Calibri "/>
              </a:rPr>
              <a:t>F (Frequency): </a:t>
            </a:r>
            <a:r>
              <a:rPr lang="en-US" i="0" dirty="0">
                <a:effectLst/>
                <a:latin typeface="Calibri "/>
              </a:rPr>
              <a:t>Number of </a:t>
            </a:r>
            <a:r>
              <a:rPr lang="en-US" i="0" dirty="0" err="1">
                <a:effectLst/>
                <a:latin typeface="Calibri "/>
              </a:rPr>
              <a:t>tracsactions</a:t>
            </a:r>
            <a:endParaRPr lang="en-US" i="0" dirty="0">
              <a:effectLst/>
              <a:latin typeface="Calibri "/>
            </a:endParaRPr>
          </a:p>
          <a:p>
            <a:pPr algn="l"/>
            <a:r>
              <a:rPr lang="en-US" b="1" i="0" dirty="0">
                <a:effectLst/>
                <a:latin typeface="Calibri "/>
              </a:rPr>
              <a:t>M (Monetary): </a:t>
            </a:r>
            <a:r>
              <a:rPr lang="en-US" i="0" dirty="0">
                <a:effectLst/>
                <a:latin typeface="Calibri "/>
              </a:rPr>
              <a:t>Total amount of transactions</a:t>
            </a:r>
            <a:endParaRPr lang="en-US" dirty="0">
              <a:latin typeface="Calibri "/>
            </a:endParaRPr>
          </a:p>
          <a:p>
            <a:pPr marL="0" indent="0">
              <a:buNone/>
            </a:pPr>
            <a:endParaRPr lang="en-IN" dirty="0">
              <a:latin typeface="Calibri "/>
            </a:endParaRPr>
          </a:p>
        </p:txBody>
      </p:sp>
      <p:pic>
        <p:nvPicPr>
          <p:cNvPr id="4" name="Picture 3">
            <a:extLst>
              <a:ext uri="{FF2B5EF4-FFF2-40B4-BE49-F238E27FC236}">
                <a16:creationId xmlns:a16="http://schemas.microsoft.com/office/drawing/2014/main" id="{6709E020-FA58-8207-A610-A179A64EF708}"/>
              </a:ext>
            </a:extLst>
          </p:cNvPr>
          <p:cNvPicPr>
            <a:picLocks noChangeAspect="1"/>
          </p:cNvPicPr>
          <p:nvPr/>
        </p:nvPicPr>
        <p:blipFill>
          <a:blip r:embed="rId2">
            <a:extLst>
              <a:ext uri="{28A0092B-C50C-407E-A947-70E740481C1C}">
                <a14:useLocalDpi xmlns:a14="http://schemas.microsoft.com/office/drawing/2010/main" val="0"/>
              </a:ext>
            </a:extLst>
          </a:blip>
          <a:srcRect l="29915" t="38637" r="28997" b="23652"/>
          <a:stretch/>
        </p:blipFill>
        <p:spPr>
          <a:xfrm>
            <a:off x="8199783" y="1411357"/>
            <a:ext cx="3816626" cy="3448877"/>
          </a:xfrm>
          <a:prstGeom prst="rect">
            <a:avLst/>
          </a:prstGeom>
        </p:spPr>
      </p:pic>
    </p:spTree>
    <p:extLst>
      <p:ext uri="{BB962C8B-B14F-4D97-AF65-F5344CB8AC3E}">
        <p14:creationId xmlns:p14="http://schemas.microsoft.com/office/powerpoint/2010/main" val="3712998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US" dirty="0"/>
              <a:t>Handling Outliers</a:t>
            </a:r>
            <a:endParaRPr lang="en-IN" dirty="0"/>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457200" y="1216440"/>
            <a:ext cx="5794511" cy="4841462"/>
          </a:xfrm>
        </p:spPr>
        <p:txBody>
          <a:bodyPr/>
          <a:lstStyle/>
          <a:p>
            <a:r>
              <a:rPr lang="en-US" b="0" i="0" dirty="0">
                <a:solidFill>
                  <a:srgbClr val="1F1F1F"/>
                </a:solidFill>
                <a:effectLst/>
                <a:latin typeface="Calibri "/>
              </a:rPr>
              <a:t>There many outliers in Amount, few in frequency and Recency  </a:t>
            </a:r>
            <a:r>
              <a:rPr lang="en-US" dirty="0">
                <a:solidFill>
                  <a:srgbClr val="1F1F1F"/>
                </a:solidFill>
                <a:latin typeface="Calibri "/>
              </a:rPr>
              <a:t>features</a:t>
            </a:r>
            <a:r>
              <a:rPr lang="en-US" b="0" i="0" dirty="0">
                <a:solidFill>
                  <a:srgbClr val="1F1F1F"/>
                </a:solidFill>
                <a:effectLst/>
                <a:latin typeface="Calibri "/>
              </a:rPr>
              <a:t>.</a:t>
            </a:r>
          </a:p>
          <a:p>
            <a:pPr marL="0" indent="0">
              <a:buNone/>
            </a:pPr>
            <a:endParaRPr lang="en-US" b="0" i="0" dirty="0">
              <a:solidFill>
                <a:srgbClr val="1F1F1F"/>
              </a:solidFill>
              <a:effectLst/>
              <a:latin typeface="Calibri "/>
            </a:endParaRPr>
          </a:p>
          <a:p>
            <a:r>
              <a:rPr lang="en-US" b="0" i="0" dirty="0">
                <a:solidFill>
                  <a:srgbClr val="1F1F1F"/>
                </a:solidFill>
                <a:effectLst/>
                <a:latin typeface="Calibri "/>
              </a:rPr>
              <a:t>To remove outliers from the ‘Amount’ , ‘Recency’ and ’Frequency’   using the Interquartile Range(IQR)</a:t>
            </a:r>
          </a:p>
          <a:p>
            <a:pPr marL="0" indent="0">
              <a:buNone/>
            </a:pPr>
            <a:endParaRPr lang="en-US" b="0" i="0" dirty="0">
              <a:solidFill>
                <a:srgbClr val="1F1F1F"/>
              </a:solidFill>
              <a:effectLst/>
              <a:latin typeface="Calibri "/>
            </a:endParaRPr>
          </a:p>
          <a:p>
            <a:r>
              <a:rPr lang="en-US" b="0" i="0" dirty="0">
                <a:solidFill>
                  <a:srgbClr val="1F1F1F"/>
                </a:solidFill>
                <a:effectLst/>
                <a:latin typeface="Calibri "/>
              </a:rPr>
              <a:t>Compute IQR</a:t>
            </a:r>
          </a:p>
          <a:p>
            <a:pPr marL="0" indent="0">
              <a:buNone/>
            </a:pPr>
            <a:r>
              <a:rPr lang="en-US" b="0" i="0" dirty="0">
                <a:solidFill>
                  <a:srgbClr val="1F1F1F"/>
                </a:solidFill>
                <a:effectLst/>
                <a:latin typeface="Calibri "/>
              </a:rPr>
              <a:t>              IQR=Q</a:t>
            </a:r>
            <a:r>
              <a:rPr lang="en-US" dirty="0">
                <a:solidFill>
                  <a:srgbClr val="1F1F1F"/>
                </a:solidFill>
                <a:latin typeface="Calibri "/>
              </a:rPr>
              <a:t>3-Q1</a:t>
            </a:r>
            <a:endParaRPr lang="en-US" b="0" i="0" dirty="0">
              <a:solidFill>
                <a:srgbClr val="1F1F1F"/>
              </a:solidFill>
              <a:effectLst/>
              <a:latin typeface="Calibri "/>
            </a:endParaRPr>
          </a:p>
          <a:p>
            <a:endParaRPr lang="en-US" b="0" i="0" dirty="0">
              <a:solidFill>
                <a:srgbClr val="1F1F1F"/>
              </a:solidFill>
              <a:effectLst/>
              <a:latin typeface="Roboto" panose="02000000000000000000" pitchFamily="2" charset="0"/>
            </a:endParaRPr>
          </a:p>
          <a:p>
            <a:pPr marL="0" indent="0">
              <a:buNone/>
            </a:pPr>
            <a:endParaRPr lang="en-IN" dirty="0"/>
          </a:p>
        </p:txBody>
      </p:sp>
      <p:pic>
        <p:nvPicPr>
          <p:cNvPr id="2050" name="Picture 2">
            <a:extLst>
              <a:ext uri="{FF2B5EF4-FFF2-40B4-BE49-F238E27FC236}">
                <a16:creationId xmlns:a16="http://schemas.microsoft.com/office/drawing/2014/main" id="{FD982656-5CAE-7C4C-DEF9-CF75B4111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712" y="696877"/>
            <a:ext cx="5774635" cy="546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4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A962-2046-756F-691E-5FD180B0C4FF}"/>
              </a:ext>
            </a:extLst>
          </p:cNvPr>
          <p:cNvSpPr>
            <a:spLocks noGrp="1"/>
          </p:cNvSpPr>
          <p:nvPr>
            <p:ph type="title"/>
          </p:nvPr>
        </p:nvSpPr>
        <p:spPr/>
        <p:txBody>
          <a:bodyPr/>
          <a:lstStyle/>
          <a:p>
            <a:r>
              <a:rPr lang="en-US" u="sng" dirty="0"/>
              <a:t>Model Selection &amp; Training</a:t>
            </a:r>
            <a:endParaRPr lang="en-IN" u="sng" dirty="0"/>
          </a:p>
        </p:txBody>
      </p:sp>
      <p:sp>
        <p:nvSpPr>
          <p:cNvPr id="3" name="Content Placeholder 2">
            <a:extLst>
              <a:ext uri="{FF2B5EF4-FFF2-40B4-BE49-F238E27FC236}">
                <a16:creationId xmlns:a16="http://schemas.microsoft.com/office/drawing/2014/main" id="{2695D100-B00A-1063-8899-8DFB3A9D2B31}"/>
              </a:ext>
            </a:extLst>
          </p:cNvPr>
          <p:cNvSpPr>
            <a:spLocks noGrp="1"/>
          </p:cNvSpPr>
          <p:nvPr>
            <p:ph idx="1"/>
          </p:nvPr>
        </p:nvSpPr>
        <p:spPr>
          <a:xfrm>
            <a:off x="678884" y="1216441"/>
            <a:ext cx="10834234" cy="4856700"/>
          </a:xfrm>
        </p:spPr>
        <p:txBody>
          <a:bodyPr>
            <a:normAutofit fontScale="85000" lnSpcReduction="20000"/>
          </a:bodyPr>
          <a:lstStyle/>
          <a:p>
            <a:pPr>
              <a:lnSpc>
                <a:spcPct val="150000"/>
              </a:lnSpc>
            </a:pPr>
            <a:r>
              <a:rPr lang="en-US" b="1" dirty="0">
                <a:latin typeface="Calibri "/>
              </a:rPr>
              <a:t>Models used: </a:t>
            </a:r>
            <a:r>
              <a:rPr lang="en-US" b="0" i="0" dirty="0">
                <a:solidFill>
                  <a:srgbClr val="1F2937"/>
                </a:solidFill>
                <a:effectLst/>
                <a:latin typeface="Calibri "/>
              </a:rPr>
              <a:t>K-means, hierarchical clustering, and DBSCAN</a:t>
            </a:r>
            <a:endParaRPr lang="en-US" dirty="0">
              <a:solidFill>
                <a:srgbClr val="1F2937"/>
              </a:solidFill>
              <a:latin typeface="Calibri "/>
            </a:endParaRPr>
          </a:p>
          <a:p>
            <a:pPr marL="0" indent="0">
              <a:lnSpc>
                <a:spcPct val="150000"/>
              </a:lnSpc>
              <a:buNone/>
            </a:pPr>
            <a:r>
              <a:rPr lang="en-US" b="1" dirty="0">
                <a:latin typeface="Calibri "/>
              </a:rPr>
              <a:t>Model Evaluation:</a:t>
            </a:r>
          </a:p>
          <a:p>
            <a:pPr marL="0" indent="0">
              <a:lnSpc>
                <a:spcPct val="150000"/>
              </a:lnSpc>
              <a:buNone/>
            </a:pPr>
            <a:r>
              <a:rPr lang="en-US" b="1" dirty="0">
                <a:latin typeface="Calibri "/>
              </a:rPr>
              <a:t>    1.</a:t>
            </a:r>
            <a:r>
              <a:rPr lang="en-US" b="1" i="0" dirty="0">
                <a:solidFill>
                  <a:srgbClr val="1F2937"/>
                </a:solidFill>
                <a:effectLst/>
                <a:latin typeface="Calibri "/>
              </a:rPr>
              <a:t> K-means(60%):-</a:t>
            </a:r>
            <a:r>
              <a:rPr lang="en-IN" b="1" dirty="0">
                <a:latin typeface="Calibri "/>
              </a:rPr>
              <a:t> </a:t>
            </a:r>
            <a:r>
              <a:rPr lang="en-IN" dirty="0">
                <a:latin typeface="Calibri "/>
              </a:rPr>
              <a:t>has the good accuracy and </a:t>
            </a:r>
            <a:r>
              <a:rPr lang="en-US" dirty="0">
                <a:latin typeface="Calibri "/>
              </a:rPr>
              <a:t>works well for spherical, </a:t>
            </a:r>
          </a:p>
          <a:p>
            <a:pPr marL="0" indent="0">
              <a:lnSpc>
                <a:spcPct val="150000"/>
              </a:lnSpc>
              <a:buNone/>
            </a:pPr>
            <a:r>
              <a:rPr lang="en-US" dirty="0">
                <a:latin typeface="Calibri "/>
              </a:rPr>
              <a:t>          well-separated clusters.</a:t>
            </a:r>
            <a:endParaRPr lang="en-US" b="0" i="0" dirty="0">
              <a:solidFill>
                <a:srgbClr val="1F2937"/>
              </a:solidFill>
              <a:effectLst/>
              <a:latin typeface="Calibri "/>
            </a:endParaRPr>
          </a:p>
          <a:p>
            <a:pPr marL="0" indent="0">
              <a:lnSpc>
                <a:spcPct val="150000"/>
              </a:lnSpc>
              <a:buNone/>
            </a:pPr>
            <a:r>
              <a:rPr lang="en-US" dirty="0">
                <a:solidFill>
                  <a:srgbClr val="1F2937"/>
                </a:solidFill>
                <a:latin typeface="Calibri "/>
              </a:rPr>
              <a:t>    </a:t>
            </a:r>
            <a:r>
              <a:rPr lang="en-US" b="1" dirty="0">
                <a:solidFill>
                  <a:srgbClr val="1F2937"/>
                </a:solidFill>
                <a:latin typeface="Calibri "/>
              </a:rPr>
              <a:t>2.</a:t>
            </a:r>
            <a:r>
              <a:rPr lang="en-US" b="1" i="0" dirty="0">
                <a:solidFill>
                  <a:srgbClr val="1F2937"/>
                </a:solidFill>
                <a:effectLst/>
                <a:latin typeface="Calibri "/>
              </a:rPr>
              <a:t> hierarchical clustering(57%):-</a:t>
            </a:r>
            <a:r>
              <a:rPr lang="en-US" dirty="0">
                <a:latin typeface="Calibri "/>
              </a:rPr>
              <a:t>is low accuracy and Computationally</a:t>
            </a:r>
          </a:p>
          <a:p>
            <a:pPr marL="0" indent="0">
              <a:lnSpc>
                <a:spcPct val="150000"/>
              </a:lnSpc>
              <a:buNone/>
            </a:pPr>
            <a:r>
              <a:rPr lang="en-US" dirty="0">
                <a:latin typeface="Calibri "/>
              </a:rPr>
              <a:t>         expensive for large datasets</a:t>
            </a:r>
          </a:p>
          <a:p>
            <a:pPr marL="0" indent="0">
              <a:lnSpc>
                <a:spcPct val="150000"/>
              </a:lnSpc>
              <a:buNone/>
            </a:pPr>
            <a:r>
              <a:rPr lang="en-US" b="1" dirty="0">
                <a:solidFill>
                  <a:srgbClr val="1F2937"/>
                </a:solidFill>
                <a:latin typeface="Calibri "/>
              </a:rPr>
              <a:t>    3.</a:t>
            </a:r>
            <a:r>
              <a:rPr lang="en-US" b="1" i="0" dirty="0">
                <a:solidFill>
                  <a:srgbClr val="1F2937"/>
                </a:solidFill>
                <a:effectLst/>
                <a:latin typeface="Calibri "/>
              </a:rPr>
              <a:t> DBSCAN(64%):-</a:t>
            </a:r>
            <a:r>
              <a:rPr lang="en-IN" dirty="0">
                <a:latin typeface="Calibri "/>
              </a:rPr>
              <a:t>has the highest accuracy,   but </a:t>
            </a:r>
            <a:r>
              <a:rPr lang="en-US" dirty="0">
                <a:latin typeface="Calibri "/>
              </a:rPr>
              <a:t>is slower for </a:t>
            </a:r>
          </a:p>
          <a:p>
            <a:pPr marL="0" indent="0">
              <a:lnSpc>
                <a:spcPct val="150000"/>
              </a:lnSpc>
              <a:buNone/>
            </a:pPr>
            <a:r>
              <a:rPr lang="en-US" dirty="0">
                <a:latin typeface="Calibri "/>
              </a:rPr>
              <a:t>        large datasets.</a:t>
            </a:r>
            <a:endParaRPr lang="en-US" dirty="0">
              <a:solidFill>
                <a:srgbClr val="1F2937"/>
              </a:solidFill>
              <a:latin typeface="Calibri "/>
            </a:endParaRPr>
          </a:p>
          <a:p>
            <a:pPr marL="0" indent="0">
              <a:lnSpc>
                <a:spcPct val="150000"/>
              </a:lnSpc>
              <a:buNone/>
            </a:pPr>
            <a:endParaRPr lang="en-US" b="1" dirty="0">
              <a:latin typeface="Calibri "/>
            </a:endParaRPr>
          </a:p>
          <a:p>
            <a:pPr marL="0" indent="0">
              <a:buNone/>
            </a:pPr>
            <a:endParaRPr lang="en-IN" dirty="0">
              <a:latin typeface="Calibri "/>
            </a:endParaRPr>
          </a:p>
        </p:txBody>
      </p:sp>
    </p:spTree>
    <p:extLst>
      <p:ext uri="{BB962C8B-B14F-4D97-AF65-F5344CB8AC3E}">
        <p14:creationId xmlns:p14="http://schemas.microsoft.com/office/powerpoint/2010/main" val="1859887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C8652-C24B-B27C-A5D7-D977D5177BF2}"/>
              </a:ext>
            </a:extLst>
          </p:cNvPr>
          <p:cNvSpPr>
            <a:spLocks noGrp="1"/>
          </p:cNvSpPr>
          <p:nvPr>
            <p:ph type="title"/>
          </p:nvPr>
        </p:nvSpPr>
        <p:spPr/>
        <p:txBody>
          <a:bodyPr/>
          <a:lstStyle/>
          <a:p>
            <a:r>
              <a:rPr lang="en-US" b="1" dirty="0"/>
              <a:t>.</a:t>
            </a:r>
            <a:r>
              <a:rPr lang="en-US" b="1" i="0" dirty="0">
                <a:solidFill>
                  <a:srgbClr val="1F2937"/>
                </a:solidFill>
                <a:effectLst/>
                <a:latin typeface="Figtree"/>
              </a:rPr>
              <a:t> K-means</a:t>
            </a:r>
            <a:endParaRPr lang="en-IN" dirty="0"/>
          </a:p>
        </p:txBody>
      </p:sp>
      <p:sp>
        <p:nvSpPr>
          <p:cNvPr id="3" name="Content Placeholder 2">
            <a:extLst>
              <a:ext uri="{FF2B5EF4-FFF2-40B4-BE49-F238E27FC236}">
                <a16:creationId xmlns:a16="http://schemas.microsoft.com/office/drawing/2014/main" id="{3BC9510F-0318-6D3B-ECE2-A8ACF7395E01}"/>
              </a:ext>
            </a:extLst>
          </p:cNvPr>
          <p:cNvSpPr>
            <a:spLocks noGrp="1"/>
          </p:cNvSpPr>
          <p:nvPr>
            <p:ph idx="1"/>
          </p:nvPr>
        </p:nvSpPr>
        <p:spPr>
          <a:xfrm>
            <a:off x="467139" y="1216441"/>
            <a:ext cx="5628861" cy="4627768"/>
          </a:xfrm>
        </p:spPr>
        <p:txBody>
          <a:bodyPr>
            <a:normAutofit fontScale="92500" lnSpcReduction="10000"/>
          </a:bodyPr>
          <a:lstStyle/>
          <a:p>
            <a:r>
              <a:rPr lang="en-US" dirty="0"/>
              <a:t>K-Means is an unsupervised machine learning algorithm used for clustering</a:t>
            </a:r>
          </a:p>
          <a:p>
            <a:pPr marL="0" indent="0">
              <a:buNone/>
            </a:pPr>
            <a:r>
              <a:rPr lang="en-US" sz="3200" b="1" dirty="0"/>
              <a:t>  </a:t>
            </a:r>
            <a:r>
              <a:rPr lang="en-US" sz="3200" b="1" u="sng" dirty="0"/>
              <a:t>Elbow Method</a:t>
            </a:r>
          </a:p>
          <a:p>
            <a:r>
              <a:rPr lang="en-US" b="1" dirty="0"/>
              <a:t>The Elbow Method:- </a:t>
            </a:r>
            <a:r>
              <a:rPr lang="en-US" dirty="0"/>
              <a:t>helps find the best value of K by analyzing how well the clusters fit the data.</a:t>
            </a:r>
          </a:p>
          <a:p>
            <a:r>
              <a:rPr lang="en-US" dirty="0"/>
              <a:t>  </a:t>
            </a:r>
            <a:r>
              <a:rPr lang="en-US" b="1" dirty="0"/>
              <a:t>Choosing K=3 </a:t>
            </a:r>
            <a:r>
              <a:rPr lang="en-US" dirty="0"/>
              <a:t>:-the  ‘elbow’ in </a:t>
            </a:r>
          </a:p>
          <a:p>
            <a:pPr marL="0" indent="0">
              <a:buNone/>
            </a:pPr>
            <a:r>
              <a:rPr lang="en-US" dirty="0"/>
              <a:t>     the  plot where the reduction</a:t>
            </a:r>
          </a:p>
          <a:p>
            <a:pPr marL="0" indent="0">
              <a:buNone/>
            </a:pPr>
            <a:r>
              <a:rPr lang="en-US" dirty="0"/>
              <a:t>     in WCSS start to level off suggests   </a:t>
            </a:r>
          </a:p>
          <a:p>
            <a:pPr marL="0" indent="0">
              <a:buNone/>
            </a:pPr>
            <a:r>
              <a:rPr lang="en-US" dirty="0"/>
              <a:t>    that 3 clusters capture</a:t>
            </a:r>
          </a:p>
          <a:p>
            <a:pPr marL="0" indent="0">
              <a:buNone/>
            </a:pPr>
            <a:r>
              <a:rPr lang="en-US" dirty="0"/>
              <a:t>    most  of the </a:t>
            </a:r>
            <a:r>
              <a:rPr lang="en-US" dirty="0" err="1"/>
              <a:t>datas</a:t>
            </a:r>
            <a:r>
              <a:rPr lang="en-US" dirty="0"/>
              <a:t> structure  </a:t>
            </a:r>
          </a:p>
          <a:p>
            <a:pPr marL="0" indent="0">
              <a:buNone/>
            </a:pPr>
            <a:endParaRPr lang="en-US" dirty="0"/>
          </a:p>
          <a:p>
            <a:pPr marL="0" indent="0">
              <a:buNone/>
            </a:pPr>
            <a:endParaRPr lang="en-IN" dirty="0"/>
          </a:p>
        </p:txBody>
      </p:sp>
      <p:pic>
        <p:nvPicPr>
          <p:cNvPr id="3074" name="Picture 2">
            <a:extLst>
              <a:ext uri="{FF2B5EF4-FFF2-40B4-BE49-F238E27FC236}">
                <a16:creationId xmlns:a16="http://schemas.microsoft.com/office/drawing/2014/main" id="{15EEC164-1951-CB2E-983D-EF53D6E56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1835" y="347870"/>
            <a:ext cx="5852380" cy="5953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051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BD2E2-C69D-5A8F-8BC0-762B5CAAD9BC}"/>
              </a:ext>
            </a:extLst>
          </p:cNvPr>
          <p:cNvSpPr>
            <a:spLocks noGrp="1"/>
          </p:cNvSpPr>
          <p:nvPr>
            <p:ph type="title"/>
          </p:nvPr>
        </p:nvSpPr>
        <p:spPr>
          <a:xfrm>
            <a:off x="367749" y="397565"/>
            <a:ext cx="5418372" cy="655983"/>
          </a:xfrm>
        </p:spPr>
        <p:txBody>
          <a:bodyPr/>
          <a:lstStyle/>
          <a:p>
            <a:r>
              <a:rPr lang="en-US" dirty="0"/>
              <a:t>K-means</a:t>
            </a:r>
            <a:endParaRPr lang="en-IN" dirty="0"/>
          </a:p>
        </p:txBody>
      </p:sp>
      <p:sp>
        <p:nvSpPr>
          <p:cNvPr id="3" name="Content Placeholder 2">
            <a:extLst>
              <a:ext uri="{FF2B5EF4-FFF2-40B4-BE49-F238E27FC236}">
                <a16:creationId xmlns:a16="http://schemas.microsoft.com/office/drawing/2014/main" id="{EC91E7BC-A094-8D53-5BB4-47354E4AF2BE}"/>
              </a:ext>
            </a:extLst>
          </p:cNvPr>
          <p:cNvSpPr>
            <a:spLocks noGrp="1"/>
          </p:cNvSpPr>
          <p:nvPr>
            <p:ph idx="1"/>
          </p:nvPr>
        </p:nvSpPr>
        <p:spPr>
          <a:xfrm>
            <a:off x="181389" y="1152939"/>
            <a:ext cx="5604731" cy="4904963"/>
          </a:xfrm>
        </p:spPr>
        <p:txBody>
          <a:bodyPr>
            <a:normAutofit lnSpcReduction="10000"/>
          </a:bodyPr>
          <a:lstStyle/>
          <a:p>
            <a:pPr>
              <a:lnSpc>
                <a:spcPct val="110000"/>
              </a:lnSpc>
            </a:pPr>
            <a:r>
              <a:rPr lang="en-IN" b="1" dirty="0">
                <a:solidFill>
                  <a:srgbClr val="000000"/>
                </a:solidFill>
                <a:effectLst/>
                <a:latin typeface="+mn-lt"/>
              </a:rPr>
              <a:t>Cluster 0:- </a:t>
            </a:r>
            <a:r>
              <a:rPr lang="en-IN" b="0" dirty="0">
                <a:solidFill>
                  <a:srgbClr val="000000"/>
                </a:solidFill>
                <a:effectLst/>
                <a:latin typeface="+mn-lt"/>
              </a:rPr>
              <a:t>has highest recency values customers in this group haven’t made a purchase recently.</a:t>
            </a:r>
          </a:p>
          <a:p>
            <a:r>
              <a:rPr lang="en-IN" b="1" dirty="0">
                <a:solidFill>
                  <a:srgbClr val="000000"/>
                </a:solidFill>
                <a:effectLst/>
                <a:latin typeface="+mn-lt"/>
              </a:rPr>
              <a:t>Cluster 1:-</a:t>
            </a:r>
            <a:r>
              <a:rPr lang="en-IN" b="1" dirty="0">
                <a:solidFill>
                  <a:srgbClr val="000000"/>
                </a:solidFill>
                <a:effectLst/>
                <a:latin typeface="Calibri "/>
              </a:rPr>
              <a:t> </a:t>
            </a:r>
            <a:r>
              <a:rPr lang="en-IN" dirty="0">
                <a:solidFill>
                  <a:srgbClr val="000000"/>
                </a:solidFill>
                <a:effectLst/>
                <a:latin typeface="Calibri "/>
              </a:rPr>
              <a:t>This </a:t>
            </a:r>
            <a:r>
              <a:rPr lang="en-IN" dirty="0">
                <a:solidFill>
                  <a:srgbClr val="000000"/>
                </a:solidFill>
                <a:effectLst/>
                <a:latin typeface="+mn-lt"/>
              </a:rPr>
              <a:t>group has a lower recency than Cluster 0 ,most customers have made </a:t>
            </a:r>
            <a:r>
              <a:rPr lang="en-IN" dirty="0" err="1">
                <a:solidFill>
                  <a:srgbClr val="000000"/>
                </a:solidFill>
                <a:effectLst/>
                <a:latin typeface="+mn-lt"/>
              </a:rPr>
              <a:t>puchases</a:t>
            </a:r>
            <a:r>
              <a:rPr lang="en-IN" dirty="0">
                <a:solidFill>
                  <a:srgbClr val="000000"/>
                </a:solidFill>
                <a:effectLst/>
                <a:latin typeface="+mn-lt"/>
              </a:rPr>
              <a:t> more recently</a:t>
            </a:r>
          </a:p>
          <a:p>
            <a:pPr>
              <a:lnSpc>
                <a:spcPct val="110000"/>
              </a:lnSpc>
            </a:pPr>
            <a:r>
              <a:rPr lang="en-IN" b="1" dirty="0">
                <a:solidFill>
                  <a:srgbClr val="000000"/>
                </a:solidFill>
                <a:effectLst/>
                <a:latin typeface="+mn-lt"/>
              </a:rPr>
              <a:t>Cluster 2</a:t>
            </a:r>
            <a:r>
              <a:rPr lang="en-IN" b="1" dirty="0">
                <a:solidFill>
                  <a:srgbClr val="000000"/>
                </a:solidFill>
                <a:effectLst/>
                <a:latin typeface="Calibri "/>
              </a:rPr>
              <a:t>:-  </a:t>
            </a:r>
            <a:r>
              <a:rPr lang="en-IN" dirty="0">
                <a:solidFill>
                  <a:srgbClr val="000000"/>
                </a:solidFill>
                <a:latin typeface="Calibri "/>
              </a:rPr>
              <a:t>T</a:t>
            </a:r>
            <a:r>
              <a:rPr lang="en-IN" dirty="0">
                <a:solidFill>
                  <a:srgbClr val="000000"/>
                </a:solidFill>
                <a:effectLst/>
                <a:latin typeface="Calibri "/>
              </a:rPr>
              <a:t>his  </a:t>
            </a:r>
            <a:r>
              <a:rPr lang="en-IN" dirty="0">
                <a:solidFill>
                  <a:srgbClr val="000000"/>
                </a:solidFill>
                <a:effectLst/>
                <a:latin typeface="+mn-lt"/>
              </a:rPr>
              <a:t>segment has very low recency (close to zero)</a:t>
            </a:r>
            <a:r>
              <a:rPr lang="en-IN" dirty="0">
                <a:solidFill>
                  <a:srgbClr val="000000"/>
                </a:solidFill>
                <a:latin typeface="+mn-lt"/>
              </a:rPr>
              <a:t>customers in this group have purchases very recently.</a:t>
            </a:r>
            <a:endParaRPr lang="en-IN" dirty="0">
              <a:solidFill>
                <a:srgbClr val="000000"/>
              </a:solidFill>
              <a:effectLst/>
              <a:latin typeface="+mn-lt"/>
            </a:endParaRPr>
          </a:p>
        </p:txBody>
      </p:sp>
      <p:pic>
        <p:nvPicPr>
          <p:cNvPr id="4098" name="Picture 2">
            <a:extLst>
              <a:ext uri="{FF2B5EF4-FFF2-40B4-BE49-F238E27FC236}">
                <a16:creationId xmlns:a16="http://schemas.microsoft.com/office/drawing/2014/main" id="{9120F038-BD3B-2CFB-4BD5-5F012FD87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1957" y="795130"/>
            <a:ext cx="5883966" cy="5516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876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89452"/>
            <a:ext cx="10834234" cy="853535"/>
          </a:xfrm>
        </p:spPr>
        <p:txBody>
          <a:bodyPr>
            <a:normAutofit/>
          </a:bodyPr>
          <a:lstStyle/>
          <a:p>
            <a:r>
              <a:rPr lang="en-US" b="1" i="0" dirty="0">
                <a:solidFill>
                  <a:srgbClr val="1F2937"/>
                </a:solidFill>
                <a:effectLst/>
                <a:latin typeface="Figtree"/>
              </a:rPr>
              <a:t> </a:t>
            </a:r>
            <a:r>
              <a:rPr lang="en-IN" dirty="0"/>
              <a:t>Hierarchical Clustering</a:t>
            </a:r>
            <a:endParaRPr lang="en-US" dirty="0"/>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678883" y="942987"/>
            <a:ext cx="4867151" cy="5036144"/>
          </a:xfrm>
        </p:spPr>
        <p:txBody>
          <a:bodyPr lIns="0" tIns="0" rIns="0" bIns="0" numCol="2">
            <a:normAutofit/>
          </a:bodyPr>
          <a:lstStyle/>
          <a:p>
            <a:pPr marL="0" indent="0">
              <a:buNone/>
            </a:pPr>
            <a:endParaRPr lang="en-US" sz="2200" dirty="0"/>
          </a:p>
          <a:p>
            <a:pPr marL="0" indent="0">
              <a:buNone/>
            </a:pPr>
            <a:endParaRPr lang="en-IN" sz="2200" dirty="0"/>
          </a:p>
        </p:txBody>
      </p:sp>
      <p:pic>
        <p:nvPicPr>
          <p:cNvPr id="8" name="Picture 7">
            <a:extLst>
              <a:ext uri="{FF2B5EF4-FFF2-40B4-BE49-F238E27FC236}">
                <a16:creationId xmlns:a16="http://schemas.microsoft.com/office/drawing/2014/main" id="{692C2D39-7137-123B-53E6-B51DAD1A7BD8}"/>
              </a:ext>
            </a:extLst>
          </p:cNvPr>
          <p:cNvPicPr>
            <a:picLocks noChangeAspect="1"/>
          </p:cNvPicPr>
          <p:nvPr/>
        </p:nvPicPr>
        <p:blipFill>
          <a:blip r:embed="rId3"/>
          <a:stretch>
            <a:fillRect/>
          </a:stretch>
        </p:blipFill>
        <p:spPr>
          <a:xfrm>
            <a:off x="5903843" y="245974"/>
            <a:ext cx="6210592" cy="4614261"/>
          </a:xfrm>
          <a:prstGeom prst="rect">
            <a:avLst/>
          </a:prstGeom>
        </p:spPr>
      </p:pic>
      <p:sp>
        <p:nvSpPr>
          <p:cNvPr id="10" name="TextBox 9">
            <a:extLst>
              <a:ext uri="{FF2B5EF4-FFF2-40B4-BE49-F238E27FC236}">
                <a16:creationId xmlns:a16="http://schemas.microsoft.com/office/drawing/2014/main" id="{1AD4E138-283F-9E3E-1F7E-1204D5F3DCF6}"/>
              </a:ext>
            </a:extLst>
          </p:cNvPr>
          <p:cNvSpPr txBox="1"/>
          <p:nvPr/>
        </p:nvSpPr>
        <p:spPr>
          <a:xfrm>
            <a:off x="487016" y="1212574"/>
            <a:ext cx="5844210"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Hierarchical clustering is a way to group similar things together step by step, like making a family tree.</a:t>
            </a:r>
          </a:p>
        </p:txBody>
      </p:sp>
      <p:sp>
        <p:nvSpPr>
          <p:cNvPr id="11" name="TextBox 10">
            <a:extLst>
              <a:ext uri="{FF2B5EF4-FFF2-40B4-BE49-F238E27FC236}">
                <a16:creationId xmlns:a16="http://schemas.microsoft.com/office/drawing/2014/main" id="{45030B9C-8FA5-55F8-805C-558FEE4F28C7}"/>
              </a:ext>
            </a:extLst>
          </p:cNvPr>
          <p:cNvSpPr txBox="1"/>
          <p:nvPr/>
        </p:nvSpPr>
        <p:spPr>
          <a:xfrm>
            <a:off x="487016" y="2713383"/>
            <a:ext cx="5844209"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green ,</a:t>
            </a:r>
            <a:r>
              <a:rPr lang="en-US" sz="2800" dirty="0" err="1"/>
              <a:t>red,and</a:t>
            </a:r>
            <a:r>
              <a:rPr lang="en-US" sz="2800" dirty="0"/>
              <a:t> blue sections represent different </a:t>
            </a:r>
            <a:r>
              <a:rPr lang="en-US" sz="2800" dirty="0" err="1"/>
              <a:t>clustere.The</a:t>
            </a:r>
            <a:r>
              <a:rPr lang="en-US" sz="2800" dirty="0"/>
              <a:t> higher merges in blue show that these cluster are </a:t>
            </a:r>
            <a:r>
              <a:rPr lang="en-US" sz="2800" dirty="0" err="1"/>
              <a:t>are</a:t>
            </a:r>
            <a:r>
              <a:rPr lang="en-US" sz="2800" dirty="0"/>
              <a:t> quite different from each other  </a:t>
            </a:r>
            <a:endParaRPr lang="en-IN" sz="2800" dirty="0"/>
          </a:p>
        </p:txBody>
      </p:sp>
      <p:sp>
        <p:nvSpPr>
          <p:cNvPr id="12" name="TextBox 11">
            <a:extLst>
              <a:ext uri="{FF2B5EF4-FFF2-40B4-BE49-F238E27FC236}">
                <a16:creationId xmlns:a16="http://schemas.microsoft.com/office/drawing/2014/main" id="{B15D6474-A6B1-9C01-7F22-7DAC99F8EA4A}"/>
              </a:ext>
            </a:extLst>
          </p:cNvPr>
          <p:cNvSpPr txBox="1"/>
          <p:nvPr/>
        </p:nvSpPr>
        <p:spPr>
          <a:xfrm>
            <a:off x="487016" y="5039139"/>
            <a:ext cx="11529393"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t>This dendrogram suggest that 3 clusters might be a good </a:t>
            </a:r>
            <a:r>
              <a:rPr lang="en-US" sz="2800" dirty="0" err="1"/>
              <a:t>coise</a:t>
            </a:r>
            <a:r>
              <a:rPr lang="en-US" sz="2800" dirty="0"/>
              <a:t> the large vertical gaps at the top indicate clear separation between the main clusters</a:t>
            </a:r>
            <a:endParaRPr lang="en-IN" sz="2800" dirty="0"/>
          </a:p>
        </p:txBody>
      </p:sp>
    </p:spTree>
    <p:extLst>
      <p:ext uri="{BB962C8B-B14F-4D97-AF65-F5344CB8AC3E}">
        <p14:creationId xmlns:p14="http://schemas.microsoft.com/office/powerpoint/2010/main" val="2845992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81F1-5880-C572-F1EA-799675971998}"/>
              </a:ext>
            </a:extLst>
          </p:cNvPr>
          <p:cNvSpPr>
            <a:spLocks noGrp="1"/>
          </p:cNvSpPr>
          <p:nvPr>
            <p:ph type="title"/>
          </p:nvPr>
        </p:nvSpPr>
        <p:spPr/>
        <p:txBody>
          <a:bodyPr/>
          <a:lstStyle/>
          <a:p>
            <a:r>
              <a:rPr lang="en-US" dirty="0"/>
              <a:t>DBSCAN</a:t>
            </a:r>
            <a:endParaRPr lang="en-IN" dirty="0"/>
          </a:p>
        </p:txBody>
      </p:sp>
      <p:sp>
        <p:nvSpPr>
          <p:cNvPr id="3" name="Content Placeholder 2">
            <a:extLst>
              <a:ext uri="{FF2B5EF4-FFF2-40B4-BE49-F238E27FC236}">
                <a16:creationId xmlns:a16="http://schemas.microsoft.com/office/drawing/2014/main" id="{7FE92FC5-2A69-E6BF-8A84-1BF5F3C958C8}"/>
              </a:ext>
            </a:extLst>
          </p:cNvPr>
          <p:cNvSpPr>
            <a:spLocks noGrp="1"/>
          </p:cNvSpPr>
          <p:nvPr>
            <p:ph idx="1"/>
          </p:nvPr>
        </p:nvSpPr>
        <p:spPr/>
        <p:txBody>
          <a:bodyPr/>
          <a:lstStyle/>
          <a:p>
            <a:r>
              <a:rPr lang="en-US" dirty="0"/>
              <a:t>DBSCAN (Density-Based Spatial Clustering of Applications with Noise</a:t>
            </a:r>
          </a:p>
          <a:p>
            <a:pPr marL="0" indent="0">
              <a:buNone/>
            </a:pPr>
            <a:r>
              <a:rPr lang="en-US" dirty="0"/>
              <a:t>     is a great choice for customer segmentation</a:t>
            </a:r>
          </a:p>
          <a:p>
            <a:r>
              <a:rPr lang="en-US" dirty="0"/>
              <a:t>  DBSCAN clustering has a Silhouette Score of 0.6436.</a:t>
            </a:r>
          </a:p>
          <a:p>
            <a:r>
              <a:rPr lang="en-US" dirty="0"/>
              <a:t>0.64 is a relatively good score, indicating that clusters are well-separated and the points are assigned to the correct clusters.</a:t>
            </a:r>
          </a:p>
          <a:p>
            <a:r>
              <a:rPr lang="en-US" dirty="0"/>
              <a:t>This means DBSCAN effectively grouped similar customers together while keeping outliers separate.</a:t>
            </a:r>
            <a:endParaRPr lang="en-IN" dirty="0"/>
          </a:p>
        </p:txBody>
      </p:sp>
    </p:spTree>
    <p:extLst>
      <p:ext uri="{BB962C8B-B14F-4D97-AF65-F5344CB8AC3E}">
        <p14:creationId xmlns:p14="http://schemas.microsoft.com/office/powerpoint/2010/main" val="1630152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B307-DAA9-AB39-E827-673163B5576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351E94B1-2F47-E224-4643-1502793AE5AB}"/>
              </a:ext>
            </a:extLst>
          </p:cNvPr>
          <p:cNvSpPr>
            <a:spLocks noGrp="1"/>
          </p:cNvSpPr>
          <p:nvPr>
            <p:ph idx="1"/>
          </p:nvPr>
        </p:nvSpPr>
        <p:spPr>
          <a:xfrm>
            <a:off x="678884" y="1391478"/>
            <a:ext cx="9608116" cy="4681663"/>
          </a:xfrm>
        </p:spPr>
        <p:txBody>
          <a:bodyPr/>
          <a:lstStyle/>
          <a:p>
            <a:pPr>
              <a:lnSpc>
                <a:spcPct val="100000"/>
              </a:lnSpc>
              <a:buFont typeface="Wingdings" panose="05000000000000000000" pitchFamily="2" charset="2"/>
              <a:buChar char="Ø"/>
            </a:pPr>
            <a:r>
              <a:rPr lang="en-US" dirty="0"/>
              <a:t>K-means </a:t>
            </a:r>
            <a:r>
              <a:rPr lang="en-US" dirty="0">
                <a:solidFill>
                  <a:schemeClr val="tx1"/>
                </a:solidFill>
              </a:rPr>
              <a:t>performs best with large dataset and It has  good </a:t>
            </a:r>
          </a:p>
          <a:p>
            <a:pPr marL="0" indent="0">
              <a:lnSpc>
                <a:spcPct val="100000"/>
              </a:lnSpc>
              <a:buNone/>
            </a:pPr>
            <a:r>
              <a:rPr lang="en-US" dirty="0">
                <a:solidFill>
                  <a:schemeClr val="tx1"/>
                </a:solidFill>
              </a:rPr>
              <a:t>     </a:t>
            </a:r>
            <a:r>
              <a:rPr lang="en-US" dirty="0"/>
              <a:t>accuracy  efficient, scalable, and simple to implement.</a:t>
            </a:r>
          </a:p>
          <a:p>
            <a:pPr marL="0" indent="0">
              <a:lnSpc>
                <a:spcPct val="100000"/>
              </a:lnSpc>
              <a:buNone/>
            </a:pPr>
            <a:endParaRPr lang="en-IN" dirty="0"/>
          </a:p>
          <a:p>
            <a:pPr>
              <a:buFont typeface="Wingdings" panose="05000000000000000000" pitchFamily="2" charset="2"/>
              <a:buChar char="Ø"/>
            </a:pPr>
            <a:r>
              <a:rPr lang="en-IN" dirty="0"/>
              <a:t>DBSCAN has the highest accuracy but it is slower for large data set.</a:t>
            </a:r>
          </a:p>
          <a:p>
            <a:pPr marL="0" indent="0">
              <a:buNone/>
            </a:pPr>
            <a:endParaRPr lang="en-IN" dirty="0"/>
          </a:p>
          <a:p>
            <a:pPr>
              <a:buFont typeface="Wingdings" panose="05000000000000000000" pitchFamily="2" charset="2"/>
              <a:buChar char="Ø"/>
            </a:pPr>
            <a:r>
              <a:rPr lang="en-IN" dirty="0"/>
              <a:t>Hierarchical clustering has is low accuracy.</a:t>
            </a:r>
          </a:p>
        </p:txBody>
      </p:sp>
    </p:spTree>
    <p:extLst>
      <p:ext uri="{BB962C8B-B14F-4D97-AF65-F5344CB8AC3E}">
        <p14:creationId xmlns:p14="http://schemas.microsoft.com/office/powerpoint/2010/main" val="472885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DE485-B48E-2603-57DA-29312298B0D0}"/>
              </a:ext>
            </a:extLst>
          </p:cNvPr>
          <p:cNvSpPr>
            <a:spLocks noGrp="1"/>
          </p:cNvSpPr>
          <p:nvPr>
            <p:ph type="title"/>
          </p:nvPr>
        </p:nvSpPr>
        <p:spPr>
          <a:xfrm rot="15027617" flipH="1">
            <a:off x="8776253" y="4181122"/>
            <a:ext cx="931922" cy="397566"/>
          </a:xfrm>
        </p:spPr>
        <p:txBody>
          <a:bodyPr>
            <a:normAutofit fontScale="90000"/>
          </a:bodyPr>
          <a:lstStyle/>
          <a:p>
            <a:endParaRPr lang="en-IN" sz="3100" dirty="0">
              <a:solidFill>
                <a:schemeClr val="bg2">
                  <a:lumMod val="10000"/>
                </a:schemeClr>
              </a:solidFill>
              <a:ea typeface="+mn-ea"/>
              <a:cs typeface="+mn-cs"/>
            </a:endParaRPr>
          </a:p>
        </p:txBody>
      </p:sp>
      <p:pic>
        <p:nvPicPr>
          <p:cNvPr id="5" name="Content Placeholder 4">
            <a:extLst>
              <a:ext uri="{FF2B5EF4-FFF2-40B4-BE49-F238E27FC236}">
                <a16:creationId xmlns:a16="http://schemas.microsoft.com/office/drawing/2014/main" id="{62C29DCD-519B-E9DE-9072-5956DDFF765D}"/>
              </a:ext>
            </a:extLst>
          </p:cNvPr>
          <p:cNvPicPr>
            <a:picLocks noGrp="1" noChangeAspect="1"/>
          </p:cNvPicPr>
          <p:nvPr>
            <p:ph idx="1"/>
          </p:nvPr>
        </p:nvPicPr>
        <p:blipFill>
          <a:blip r:embed="rId2"/>
          <a:stretch>
            <a:fillRect/>
          </a:stretch>
        </p:blipFill>
        <p:spPr>
          <a:xfrm>
            <a:off x="623354" y="278296"/>
            <a:ext cx="10955733" cy="5685182"/>
          </a:xfrm>
        </p:spPr>
      </p:pic>
    </p:spTree>
    <p:extLst>
      <p:ext uri="{BB962C8B-B14F-4D97-AF65-F5344CB8AC3E}">
        <p14:creationId xmlns:p14="http://schemas.microsoft.com/office/powerpoint/2010/main" val="3553275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7574</TotalTime>
  <Words>632</Words>
  <Application>Microsoft Office PowerPoint</Application>
  <PresentationFormat>Widescreen</PresentationFormat>
  <Paragraphs>70</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vt:lpstr>
      <vt:lpstr>Figtree</vt:lpstr>
      <vt:lpstr>Roboto</vt:lpstr>
      <vt:lpstr>Wingdings</vt:lpstr>
      <vt:lpstr>BIA Template</vt:lpstr>
      <vt:lpstr>PowerPoint Presentation</vt:lpstr>
      <vt:lpstr>Introduction</vt:lpstr>
      <vt:lpstr>Exploratory Data Analysis (EDA)</vt:lpstr>
      <vt:lpstr>Analyze Customer Purchasing Behavior</vt:lpstr>
      <vt:lpstr>Handling Outliers</vt:lpstr>
      <vt:lpstr>Model Selection &amp; Training</vt:lpstr>
      <vt:lpstr>. K-means</vt:lpstr>
      <vt:lpstr>K-means</vt:lpstr>
      <vt:lpstr> Hierarchical Clustering</vt:lpstr>
      <vt:lpstr>DBSCAN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dell</cp:lastModifiedBy>
  <cp:revision>2259</cp:revision>
  <dcterms:created xsi:type="dcterms:W3CDTF">2020-12-23T13:36:00Z</dcterms:created>
  <dcterms:modified xsi:type="dcterms:W3CDTF">2025-04-05T09:56:59Z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